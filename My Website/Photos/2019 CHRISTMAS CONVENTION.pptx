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 id="269" r:id="rId14"/>
    <p:sldId id="270" r:id="rId15"/>
    <p:sldId id="271" r:id="rId16"/>
    <p:sldId id="272" r:id="rId17"/>
    <p:sldId id="273" r:id="rId18"/>
    <p:sldId id="274" r:id="rId19"/>
    <p:sldId id="275"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6" d="100"/>
          <a:sy n="86" d="100"/>
        </p:scale>
        <p:origin x="56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87DE6118-2437-4B30-8E3C-4D2BE6020583}" type="datetimeFigureOut">
              <a:rPr lang="en-US" smtClean="0"/>
              <a:pPr/>
              <a:t>12/21/2019</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smtClean="0"/>
              <a:pPr/>
              <a:t>‹#›</a:t>
            </a:fld>
            <a:endParaRPr lang="en-US" dirty="0"/>
          </a:p>
        </p:txBody>
      </p:sp>
      <p:grpSp>
        <p:nvGrpSpPr>
          <p:cNvPr id="9" name="Group 8"/>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40715247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smtClean="0"/>
              <a:t>12/21/2019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24560959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7DE6118-2437-4B30-8E3C-4D2BE6020583}" type="datetimeFigureOut">
              <a:rPr lang="en-US" smtClean="0"/>
              <a:pPr/>
              <a:t>12/21/2019</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smtClean="0"/>
              <a:pPr/>
              <a:t>‹#›</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accent1"/>
          </a:solidFill>
          <a:ln w="0">
            <a:noFill/>
            <a:prstDash val="solid"/>
            <a:round/>
            <a:headEnd/>
            <a:tailEnd/>
          </a:ln>
        </p:spPr>
      </p:sp>
    </p:spTree>
    <p:extLst>
      <p:ext uri="{BB962C8B-B14F-4D97-AF65-F5344CB8AC3E}">
        <p14:creationId xmlns:p14="http://schemas.microsoft.com/office/powerpoint/2010/main" val="111852780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smtClean="0"/>
              <a:t>12/21/2019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16058375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smtClean="0"/>
              <a:t>12/21/2019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29426470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smtClean="0"/>
              <a:t>12/21/2019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35904129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smtClean="0"/>
              <a:t>12/21/2019</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22284444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smtClean="0"/>
              <a:pPr/>
              <a:t>12/21/2019</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smtClean="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1100676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smtClean="0"/>
              <a:pPr/>
              <a:t>12/21/2019</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smtClean="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8522862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smtClean="0"/>
              <a:t>12/21/2019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541127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smtClean="0"/>
              <a:t>12/21/2019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36345171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87DE6118-2437-4B30-8E3C-4D2BE6020583}" type="datetimeFigureOut">
              <a:rPr lang="en-US" smtClean="0"/>
              <a:pPr/>
              <a:t>12/21/2019</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smtClean="0"/>
              <a:pPr/>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51662747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8870" y="1680754"/>
            <a:ext cx="9413964" cy="2205926"/>
          </a:xfrm>
        </p:spPr>
        <p:txBody>
          <a:bodyPr/>
          <a:lstStyle/>
          <a:p>
            <a:r>
              <a:rPr lang="en-US" b="1" dirty="0"/>
              <a:t>THE CHURCH OF PENTECOST-UKRAINE</a:t>
            </a:r>
          </a:p>
        </p:txBody>
      </p:sp>
      <p:sp>
        <p:nvSpPr>
          <p:cNvPr id="3" name="Subtitle 2"/>
          <p:cNvSpPr>
            <a:spLocks noGrp="1"/>
          </p:cNvSpPr>
          <p:nvPr>
            <p:ph type="subTitle" idx="1"/>
          </p:nvPr>
        </p:nvSpPr>
        <p:spPr/>
        <p:txBody>
          <a:bodyPr>
            <a:normAutofit/>
          </a:bodyPr>
          <a:lstStyle/>
          <a:p>
            <a:r>
              <a:rPr lang="en-US" sz="3600" dirty="0"/>
              <a:t>2019 CHRISTMAS CONVENTION</a:t>
            </a:r>
          </a:p>
          <a:p>
            <a:r>
              <a:rPr lang="en-US" sz="2200"/>
              <a:t>                                                 REV</a:t>
            </a:r>
            <a:r>
              <a:rPr lang="en-US" sz="2200" dirty="0"/>
              <a:t>. ABRAHAM ARTHUR</a:t>
            </a:r>
          </a:p>
        </p:txBody>
      </p:sp>
    </p:spTree>
    <p:extLst>
      <p:ext uri="{BB962C8B-B14F-4D97-AF65-F5344CB8AC3E}">
        <p14:creationId xmlns:p14="http://schemas.microsoft.com/office/powerpoint/2010/main" val="13898729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15886" y="1788454"/>
            <a:ext cx="8360472" cy="2098226"/>
          </a:xfrm>
        </p:spPr>
        <p:txBody>
          <a:bodyPr/>
          <a:lstStyle/>
          <a:p>
            <a:r>
              <a:rPr lang="en-US" b="1" dirty="0"/>
              <a:t>THE PROMISE FULFILLED</a:t>
            </a:r>
          </a:p>
        </p:txBody>
      </p:sp>
      <p:sp>
        <p:nvSpPr>
          <p:cNvPr id="3" name="Subtitle 2"/>
          <p:cNvSpPr>
            <a:spLocks noGrp="1"/>
          </p:cNvSpPr>
          <p:nvPr>
            <p:ph type="subTitle" idx="1"/>
          </p:nvPr>
        </p:nvSpPr>
        <p:spPr/>
        <p:txBody>
          <a:bodyPr>
            <a:normAutofit/>
          </a:bodyPr>
          <a:lstStyle/>
          <a:p>
            <a:r>
              <a:rPr lang="en-US" b="1" dirty="0"/>
              <a:t>MATTHEW 1:18-25</a:t>
            </a:r>
          </a:p>
          <a:p>
            <a:endParaRPr lang="en-US" b="1" dirty="0"/>
          </a:p>
        </p:txBody>
      </p:sp>
    </p:spTree>
    <p:extLst>
      <p:ext uri="{BB962C8B-B14F-4D97-AF65-F5344CB8AC3E}">
        <p14:creationId xmlns:p14="http://schemas.microsoft.com/office/powerpoint/2010/main" val="36663050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148046"/>
            <a:ext cx="9601200" cy="653143"/>
          </a:xfrm>
        </p:spPr>
        <p:txBody>
          <a:bodyPr>
            <a:normAutofit fontScale="90000"/>
          </a:bodyPr>
          <a:lstStyle/>
          <a:p>
            <a:pPr algn="ctr"/>
            <a:r>
              <a:rPr lang="en-US" b="1" dirty="0"/>
              <a:t>INTRODUCTION</a:t>
            </a:r>
          </a:p>
        </p:txBody>
      </p:sp>
      <p:sp>
        <p:nvSpPr>
          <p:cNvPr id="3" name="Content Placeholder 2"/>
          <p:cNvSpPr>
            <a:spLocks noGrp="1"/>
          </p:cNvSpPr>
          <p:nvPr>
            <p:ph idx="1"/>
          </p:nvPr>
        </p:nvSpPr>
        <p:spPr>
          <a:xfrm>
            <a:off x="949235" y="801189"/>
            <a:ext cx="10859588" cy="5947953"/>
          </a:xfrm>
        </p:spPr>
        <p:txBody>
          <a:bodyPr>
            <a:noAutofit/>
          </a:bodyPr>
          <a:lstStyle/>
          <a:p>
            <a:pPr marL="0" indent="0">
              <a:buNone/>
            </a:pPr>
            <a:r>
              <a:rPr lang="en-US" sz="2800" dirty="0"/>
              <a:t>The main theme text for this convention is taken from Matthew’s gospel. The authorship of this gospel is credited to one of the disciples of Jesus called “Matthew, the tax collector”. The gospel was written originally to the Jews. However, the message of the gospel is now relevant to all mankind.</a:t>
            </a:r>
          </a:p>
          <a:p>
            <a:pPr marL="0" indent="0">
              <a:buNone/>
            </a:pPr>
            <a:r>
              <a:rPr lang="en-US" sz="2800" dirty="0"/>
              <a:t>Matthew wrote his gospel to prove that Jesus is the Messiah, the Saviour and the King prophesied of by the Prophets, and that all the prophecies of the Old Testament are fulfilled in Jesus Christ of Nazareth. This is why when you read the gospel of Matthew it has one recurring theme: </a:t>
            </a:r>
            <a:r>
              <a:rPr lang="en-US" sz="2800" dirty="0">
                <a:solidFill>
                  <a:srgbClr val="FF0000"/>
                </a:solidFill>
              </a:rPr>
              <a:t>“All this took place to fulfill what the Lord has said through the Prophets.......” </a:t>
            </a:r>
            <a:r>
              <a:rPr lang="en-US" sz="2800" dirty="0"/>
              <a:t>This is repeated approximately sixteen times and there are ninety–three Old Testament quotations in the gospel.</a:t>
            </a:r>
          </a:p>
        </p:txBody>
      </p:sp>
    </p:spTree>
    <p:extLst>
      <p:ext uri="{BB962C8B-B14F-4D97-AF65-F5344CB8AC3E}">
        <p14:creationId xmlns:p14="http://schemas.microsoft.com/office/powerpoint/2010/main" val="39578796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76200"/>
            <a:ext cx="9601200" cy="855617"/>
          </a:xfrm>
        </p:spPr>
        <p:txBody>
          <a:bodyPr/>
          <a:lstStyle/>
          <a:p>
            <a:pPr algn="ctr"/>
            <a:r>
              <a:rPr lang="en-US" b="1" dirty="0"/>
              <a:t>DEFINITIONS</a:t>
            </a:r>
          </a:p>
        </p:txBody>
      </p:sp>
      <p:sp>
        <p:nvSpPr>
          <p:cNvPr id="3" name="Content Placeholder 2"/>
          <p:cNvSpPr>
            <a:spLocks noGrp="1"/>
          </p:cNvSpPr>
          <p:nvPr>
            <p:ph idx="1"/>
          </p:nvPr>
        </p:nvSpPr>
        <p:spPr>
          <a:xfrm>
            <a:off x="1371600" y="801189"/>
            <a:ext cx="9879874" cy="5582194"/>
          </a:xfrm>
        </p:spPr>
        <p:txBody>
          <a:bodyPr>
            <a:normAutofit lnSpcReduction="10000"/>
          </a:bodyPr>
          <a:lstStyle/>
          <a:p>
            <a:pPr>
              <a:buFont typeface="Wingdings" panose="05000000000000000000" pitchFamily="2" charset="2"/>
              <a:buChar char="ü"/>
            </a:pPr>
            <a:r>
              <a:rPr lang="en-US" sz="3600" dirty="0"/>
              <a:t>Promise: An assurance that one will do something either for themselves or for someone or some people. In any case, there is the one who makes the promise (promisor) and the one who is promised or the one to whom a promise is made (promisee).</a:t>
            </a:r>
          </a:p>
          <a:p>
            <a:pPr>
              <a:buFont typeface="Wingdings" panose="05000000000000000000" pitchFamily="2" charset="2"/>
              <a:buChar char="ü"/>
            </a:pPr>
            <a:endParaRPr lang="en-US" sz="3600" dirty="0"/>
          </a:p>
          <a:p>
            <a:pPr>
              <a:buFont typeface="Wingdings" panose="05000000000000000000" pitchFamily="2" charset="2"/>
              <a:buChar char="ü"/>
            </a:pPr>
            <a:r>
              <a:rPr lang="en-US" sz="3600" dirty="0"/>
              <a:t>Fulfil: To achieve or realise something desired or when something happens as promised or predicted. Also, it means to gain happiness or satisfaction by fully achieving one’s potential.</a:t>
            </a:r>
          </a:p>
          <a:p>
            <a:endParaRPr lang="en-US" dirty="0"/>
          </a:p>
        </p:txBody>
      </p:sp>
    </p:spTree>
    <p:extLst>
      <p:ext uri="{BB962C8B-B14F-4D97-AF65-F5344CB8AC3E}">
        <p14:creationId xmlns:p14="http://schemas.microsoft.com/office/powerpoint/2010/main" val="14396387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398417"/>
            <a:ext cx="9845040" cy="1308463"/>
          </a:xfrm>
        </p:spPr>
        <p:txBody>
          <a:bodyPr>
            <a:normAutofit/>
          </a:bodyPr>
          <a:lstStyle/>
          <a:p>
            <a:pPr algn="ctr"/>
            <a:r>
              <a:rPr lang="en-US" sz="3600" b="1" dirty="0"/>
              <a:t>THE FALL OF MAN AND THE FIRST PROMISE OF GOD’S REDEMPTION PLAN FOR MANKIND</a:t>
            </a:r>
          </a:p>
        </p:txBody>
      </p:sp>
      <p:sp>
        <p:nvSpPr>
          <p:cNvPr id="3" name="Content Placeholder 2"/>
          <p:cNvSpPr>
            <a:spLocks noGrp="1"/>
          </p:cNvSpPr>
          <p:nvPr>
            <p:ph idx="1"/>
          </p:nvPr>
        </p:nvSpPr>
        <p:spPr>
          <a:xfrm>
            <a:off x="1371600" y="1898469"/>
            <a:ext cx="9601200" cy="4214948"/>
          </a:xfrm>
        </p:spPr>
        <p:txBody>
          <a:bodyPr>
            <a:noAutofit/>
          </a:bodyPr>
          <a:lstStyle/>
          <a:p>
            <a:pPr marL="0" indent="0">
              <a:buNone/>
            </a:pPr>
            <a:r>
              <a:rPr lang="en-US" sz="3200" dirty="0"/>
              <a:t>Genesis 3:</a:t>
            </a:r>
          </a:p>
          <a:p>
            <a:pPr>
              <a:buFont typeface="Wingdings" panose="05000000000000000000" pitchFamily="2" charset="2"/>
              <a:buChar char="Ø"/>
            </a:pPr>
            <a:r>
              <a:rPr lang="en-US" sz="3200" dirty="0"/>
              <a:t>The serpent’s conversation with the woman (3:1-5)</a:t>
            </a:r>
          </a:p>
          <a:p>
            <a:pPr>
              <a:buFont typeface="Wingdings" panose="05000000000000000000" pitchFamily="2" charset="2"/>
              <a:buChar char="Ø"/>
            </a:pPr>
            <a:r>
              <a:rPr lang="en-US" sz="3200" dirty="0"/>
              <a:t>The woman fell for the serpent’s craftiness (3:6)</a:t>
            </a:r>
          </a:p>
          <a:p>
            <a:pPr>
              <a:buFont typeface="Wingdings" panose="05000000000000000000" pitchFamily="2" charset="2"/>
              <a:buChar char="Ø"/>
            </a:pPr>
            <a:r>
              <a:rPr lang="en-US" sz="3200" dirty="0"/>
              <a:t>They (Adam &amp; Eve) became conscious of their action/sin (3:7-8)</a:t>
            </a:r>
          </a:p>
          <a:p>
            <a:pPr>
              <a:buFont typeface="Wingdings" panose="05000000000000000000" pitchFamily="2" charset="2"/>
              <a:buChar char="Ø"/>
            </a:pPr>
            <a:r>
              <a:rPr lang="en-US" sz="3200" dirty="0"/>
              <a:t>God confronted the sinners/Adam &amp; Eve (3:9-13)</a:t>
            </a:r>
          </a:p>
          <a:p>
            <a:pPr>
              <a:buFont typeface="Wingdings" panose="05000000000000000000" pitchFamily="2" charset="2"/>
              <a:buChar char="Ø"/>
            </a:pPr>
            <a:r>
              <a:rPr lang="en-US" sz="3200" dirty="0"/>
              <a:t>The consequences of the sin (3:14-24)</a:t>
            </a:r>
          </a:p>
          <a:p>
            <a:endParaRPr lang="en-US" sz="3200" dirty="0"/>
          </a:p>
        </p:txBody>
      </p:sp>
    </p:spTree>
    <p:extLst>
      <p:ext uri="{BB962C8B-B14F-4D97-AF65-F5344CB8AC3E}">
        <p14:creationId xmlns:p14="http://schemas.microsoft.com/office/powerpoint/2010/main" val="30823818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599" y="67491"/>
            <a:ext cx="9601200" cy="1177834"/>
          </a:xfrm>
        </p:spPr>
        <p:txBody>
          <a:bodyPr>
            <a:normAutofit/>
          </a:bodyPr>
          <a:lstStyle/>
          <a:p>
            <a:pPr algn="ctr"/>
            <a:r>
              <a:rPr lang="en-US" sz="3600" b="1" dirty="0"/>
              <a:t>THE FALL OF MAN AND THE FIRST PROMISE OF GOD’S REDEMPTION PLAN FOR MANKIND</a:t>
            </a:r>
            <a:endParaRPr lang="en-US" sz="3600" dirty="0"/>
          </a:p>
        </p:txBody>
      </p:sp>
      <p:sp>
        <p:nvSpPr>
          <p:cNvPr id="3" name="Content Placeholder 2"/>
          <p:cNvSpPr>
            <a:spLocks noGrp="1"/>
          </p:cNvSpPr>
          <p:nvPr>
            <p:ph idx="1"/>
          </p:nvPr>
        </p:nvSpPr>
        <p:spPr>
          <a:xfrm>
            <a:off x="984069" y="1358536"/>
            <a:ext cx="10859587" cy="5347064"/>
          </a:xfrm>
        </p:spPr>
        <p:txBody>
          <a:bodyPr>
            <a:normAutofit/>
          </a:bodyPr>
          <a:lstStyle/>
          <a:p>
            <a:pPr marL="0" indent="0">
              <a:buNone/>
            </a:pPr>
            <a:r>
              <a:rPr lang="en-US" sz="2800" dirty="0"/>
              <a:t>In Gen. 3:15, God made these strong pronouncements to the satanic powers behind the physical serpent; </a:t>
            </a:r>
            <a:r>
              <a:rPr lang="en-US" sz="2800" dirty="0">
                <a:solidFill>
                  <a:srgbClr val="FF0000"/>
                </a:solidFill>
              </a:rPr>
              <a:t>“And I will put an enmity between you and the woman, and between your seed and her seed; he shall crush your head, and you shall bruise his heel.”</a:t>
            </a:r>
          </a:p>
          <a:p>
            <a:r>
              <a:rPr lang="en-US" sz="2800" dirty="0"/>
              <a:t>The seed of the woman refers to the deliverer, the saviour and the Messiah – Jesus Christ.</a:t>
            </a:r>
          </a:p>
          <a:p>
            <a:r>
              <a:rPr lang="en-US" sz="2800" dirty="0"/>
              <a:t>The seed of the serpent refers to followers of satan.</a:t>
            </a:r>
          </a:p>
          <a:p>
            <a:pPr marL="0" indent="0">
              <a:buNone/>
            </a:pPr>
            <a:r>
              <a:rPr lang="en-US" sz="2800" dirty="0">
                <a:solidFill>
                  <a:srgbClr val="FF0000"/>
                </a:solidFill>
              </a:rPr>
              <a:t>“He shall crush your head and you shall bruise his heel.....” </a:t>
            </a:r>
            <a:r>
              <a:rPr lang="en-US" sz="2800" dirty="0"/>
              <a:t>means Jesus’ victory over satan was going to be achieved through warfare. See also Isaiah 53:5 &amp; 10; John 10:10; Hebrews 2;14-15.</a:t>
            </a:r>
          </a:p>
          <a:p>
            <a:endParaRPr lang="en-US" dirty="0"/>
          </a:p>
        </p:txBody>
      </p:sp>
    </p:spTree>
    <p:extLst>
      <p:ext uri="{BB962C8B-B14F-4D97-AF65-F5344CB8AC3E}">
        <p14:creationId xmlns:p14="http://schemas.microsoft.com/office/powerpoint/2010/main" val="29250215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76103" y="189411"/>
            <a:ext cx="9601200" cy="881743"/>
          </a:xfrm>
        </p:spPr>
        <p:txBody>
          <a:bodyPr/>
          <a:lstStyle/>
          <a:p>
            <a:pPr algn="ctr"/>
            <a:r>
              <a:rPr lang="en-US" b="1" dirty="0"/>
              <a:t>THE DIVINE BIRTH OF JESUS CHRIST</a:t>
            </a:r>
          </a:p>
        </p:txBody>
      </p:sp>
      <p:sp>
        <p:nvSpPr>
          <p:cNvPr id="3" name="Content Placeholder 2"/>
          <p:cNvSpPr>
            <a:spLocks noGrp="1"/>
          </p:cNvSpPr>
          <p:nvPr>
            <p:ph idx="1"/>
          </p:nvPr>
        </p:nvSpPr>
        <p:spPr>
          <a:xfrm>
            <a:off x="1079863" y="1193074"/>
            <a:ext cx="10598331" cy="5512525"/>
          </a:xfrm>
        </p:spPr>
        <p:txBody>
          <a:bodyPr>
            <a:normAutofit/>
          </a:bodyPr>
          <a:lstStyle/>
          <a:p>
            <a:pPr marL="457200" indent="-457200">
              <a:buFont typeface="+mj-lt"/>
              <a:buAutoNum type="arabicPeriod"/>
            </a:pPr>
            <a:r>
              <a:rPr lang="en-US" sz="3200" dirty="0"/>
              <a:t>God made it clear from the first or initial promise that the Messiah will be the seed of a woman and this will make the birth of the Messiah a unique one (Gen 3:15; Matt 1:18, 23 &amp; 25; John 1:13; Gal. 4:4-5).</a:t>
            </a:r>
          </a:p>
          <a:p>
            <a:pPr marL="457200" indent="-457200">
              <a:buFont typeface="+mj-lt"/>
              <a:buAutoNum type="arabicPeriod"/>
            </a:pPr>
            <a:r>
              <a:rPr lang="en-US" sz="3200" dirty="0"/>
              <a:t>Also, the Messiah will be Supernatural and of a supernatural birth (Matt. 1:18; 20; Lk. 1:35)</a:t>
            </a:r>
          </a:p>
          <a:p>
            <a:pPr marL="457200" indent="-457200">
              <a:buFont typeface="+mj-lt"/>
              <a:buAutoNum type="arabicPeriod"/>
            </a:pPr>
            <a:r>
              <a:rPr lang="en-US" sz="3200" dirty="0"/>
              <a:t>It must be noted also that, this promise was only the beginning of a long series of Messianic prophecies (Isaiah 7:14; 9:6; Micah 5:2; Matt 1:20-21; Lk. 1:31-35).</a:t>
            </a:r>
          </a:p>
          <a:p>
            <a:endParaRPr lang="en-US" dirty="0"/>
          </a:p>
        </p:txBody>
      </p:sp>
    </p:spTree>
    <p:extLst>
      <p:ext uri="{BB962C8B-B14F-4D97-AF65-F5344CB8AC3E}">
        <p14:creationId xmlns:p14="http://schemas.microsoft.com/office/powerpoint/2010/main" val="28818918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9977" y="346166"/>
            <a:ext cx="9601200" cy="1064623"/>
          </a:xfrm>
        </p:spPr>
        <p:txBody>
          <a:bodyPr/>
          <a:lstStyle/>
          <a:p>
            <a:pPr algn="ctr"/>
            <a:r>
              <a:rPr lang="en-US" b="1" dirty="0"/>
              <a:t>THE PROMISE FULFILLED</a:t>
            </a:r>
          </a:p>
        </p:txBody>
      </p:sp>
      <p:sp>
        <p:nvSpPr>
          <p:cNvPr id="3" name="Content Placeholder 2"/>
          <p:cNvSpPr>
            <a:spLocks noGrp="1"/>
          </p:cNvSpPr>
          <p:nvPr>
            <p:ph idx="1"/>
          </p:nvPr>
        </p:nvSpPr>
        <p:spPr>
          <a:xfrm>
            <a:off x="1371599" y="1489166"/>
            <a:ext cx="10454641" cy="4378234"/>
          </a:xfrm>
        </p:spPr>
        <p:txBody>
          <a:bodyPr>
            <a:noAutofit/>
          </a:bodyPr>
          <a:lstStyle/>
          <a:p>
            <a:pPr marL="0" indent="0">
              <a:buNone/>
            </a:pPr>
            <a:r>
              <a:rPr lang="en-US" sz="4400" dirty="0"/>
              <a:t>In the fullness of time, God who is faithful </a:t>
            </a:r>
            <a:r>
              <a:rPr lang="en-US" sz="4400" i="1" u="sng" dirty="0"/>
              <a:t>fulfilled</a:t>
            </a:r>
            <a:r>
              <a:rPr lang="en-US" sz="4400" dirty="0"/>
              <a:t> His </a:t>
            </a:r>
            <a:r>
              <a:rPr lang="en-US" sz="4400" i="1" u="sng" dirty="0"/>
              <a:t>promise</a:t>
            </a:r>
            <a:r>
              <a:rPr lang="en-US" sz="4400" dirty="0"/>
              <a:t> (Gen 3:15; Numbers 23:19; Lk 1:37) to mankind: </a:t>
            </a:r>
          </a:p>
          <a:p>
            <a:pPr marL="0" indent="0">
              <a:buNone/>
            </a:pPr>
            <a:r>
              <a:rPr lang="en-US" sz="4400" dirty="0"/>
              <a:t>Matthew 1:22-23 (Isaiah 7:14 – a prophecy made over 700 years before Christ was born). See also John 1:45</a:t>
            </a:r>
          </a:p>
        </p:txBody>
      </p:sp>
    </p:spTree>
    <p:extLst>
      <p:ext uri="{BB962C8B-B14F-4D97-AF65-F5344CB8AC3E}">
        <p14:creationId xmlns:p14="http://schemas.microsoft.com/office/powerpoint/2010/main" val="3543962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89313" y="468085"/>
            <a:ext cx="9601200" cy="1485900"/>
          </a:xfrm>
        </p:spPr>
        <p:txBody>
          <a:bodyPr/>
          <a:lstStyle/>
          <a:p>
            <a:pPr algn="ctr"/>
            <a:r>
              <a:rPr lang="en-US" b="1" dirty="0"/>
              <a:t>IN FULFILLING THE PROMISE, GOD HAD TO DO IT THROUGH:</a:t>
            </a:r>
          </a:p>
        </p:txBody>
      </p:sp>
      <p:sp>
        <p:nvSpPr>
          <p:cNvPr id="3" name="Content Placeholder 2"/>
          <p:cNvSpPr>
            <a:spLocks noGrp="1"/>
          </p:cNvSpPr>
          <p:nvPr>
            <p:ph idx="1"/>
          </p:nvPr>
        </p:nvSpPr>
        <p:spPr>
          <a:xfrm>
            <a:off x="1371599" y="2325190"/>
            <a:ext cx="10036629" cy="3542210"/>
          </a:xfrm>
        </p:spPr>
        <p:txBody>
          <a:bodyPr/>
          <a:lstStyle/>
          <a:p>
            <a:pPr>
              <a:buFont typeface="Wingdings" panose="05000000000000000000" pitchFamily="2" charset="2"/>
              <a:buChar char="ü"/>
            </a:pPr>
            <a:r>
              <a:rPr lang="en-US" sz="4400" dirty="0"/>
              <a:t>Another human being (a woman) </a:t>
            </a:r>
          </a:p>
          <a:p>
            <a:pPr marL="0" indent="0">
              <a:buNone/>
            </a:pPr>
            <a:r>
              <a:rPr lang="en-US" sz="4400" dirty="0"/>
              <a:t> (Gen 3:15; Matt 1:18; Lk 1:26-33)</a:t>
            </a:r>
          </a:p>
          <a:p>
            <a:pPr>
              <a:buFont typeface="Wingdings" panose="05000000000000000000" pitchFamily="2" charset="2"/>
              <a:buChar char="ü"/>
            </a:pPr>
            <a:endParaRPr lang="en-US" sz="4400" dirty="0"/>
          </a:p>
          <a:p>
            <a:pPr>
              <a:buFont typeface="Wingdings" panose="05000000000000000000" pitchFamily="2" charset="2"/>
              <a:buChar char="ü"/>
            </a:pPr>
            <a:r>
              <a:rPr lang="en-US" sz="4400" dirty="0"/>
              <a:t>The Holy Spirit (Matt 1:18,20; Lk 1:35).</a:t>
            </a:r>
          </a:p>
          <a:p>
            <a:endParaRPr lang="en-US" dirty="0"/>
          </a:p>
        </p:txBody>
      </p:sp>
    </p:spTree>
    <p:extLst>
      <p:ext uri="{BB962C8B-B14F-4D97-AF65-F5344CB8AC3E}">
        <p14:creationId xmlns:p14="http://schemas.microsoft.com/office/powerpoint/2010/main" val="2287266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19498" y="1628434"/>
            <a:ext cx="9231086" cy="2580394"/>
          </a:xfrm>
        </p:spPr>
        <p:txBody>
          <a:bodyPr/>
          <a:lstStyle/>
          <a:p>
            <a:r>
              <a:rPr lang="en-US" sz="6000" b="1" dirty="0"/>
              <a:t>THE PROMISE FULFILLED (the role of joseph and mary</a:t>
            </a:r>
          </a:p>
        </p:txBody>
      </p:sp>
      <p:sp>
        <p:nvSpPr>
          <p:cNvPr id="3" name="Subtitle 2"/>
          <p:cNvSpPr>
            <a:spLocks noGrp="1"/>
          </p:cNvSpPr>
          <p:nvPr>
            <p:ph type="subTitle" idx="1"/>
          </p:nvPr>
        </p:nvSpPr>
        <p:spPr>
          <a:xfrm>
            <a:off x="2784409" y="4304622"/>
            <a:ext cx="6831673" cy="1086237"/>
          </a:xfrm>
        </p:spPr>
        <p:txBody>
          <a:bodyPr/>
          <a:lstStyle/>
          <a:p>
            <a:r>
              <a:rPr lang="en-US" b="1" dirty="0"/>
              <a:t>MATTHEW 1:18-25</a:t>
            </a:r>
          </a:p>
        </p:txBody>
      </p:sp>
    </p:spTree>
    <p:extLst>
      <p:ext uri="{BB962C8B-B14F-4D97-AF65-F5344CB8AC3E}">
        <p14:creationId xmlns:p14="http://schemas.microsoft.com/office/powerpoint/2010/main" val="11914936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090749"/>
          </a:xfrm>
        </p:spPr>
        <p:txBody>
          <a:bodyPr/>
          <a:lstStyle/>
          <a:p>
            <a:pPr algn="ctr"/>
            <a:r>
              <a:rPr lang="en-US" b="1" dirty="0"/>
              <a:t>INTRODUCTION</a:t>
            </a:r>
          </a:p>
        </p:txBody>
      </p:sp>
      <p:sp>
        <p:nvSpPr>
          <p:cNvPr id="3" name="Content Placeholder 2"/>
          <p:cNvSpPr>
            <a:spLocks noGrp="1"/>
          </p:cNvSpPr>
          <p:nvPr>
            <p:ph idx="1"/>
          </p:nvPr>
        </p:nvSpPr>
        <p:spPr>
          <a:xfrm>
            <a:off x="1371599" y="1776549"/>
            <a:ext cx="10289177" cy="4090851"/>
          </a:xfrm>
        </p:spPr>
        <p:txBody>
          <a:bodyPr>
            <a:noAutofit/>
          </a:bodyPr>
          <a:lstStyle/>
          <a:p>
            <a:pPr marL="0" indent="0">
              <a:buNone/>
            </a:pPr>
            <a:r>
              <a:rPr lang="en-US" sz="4400" dirty="0"/>
              <a:t>The role this young couple played in the fulfilment of God’s redemption plan for mankind was one of </a:t>
            </a:r>
            <a:r>
              <a:rPr lang="en-US" sz="4400" b="1" dirty="0"/>
              <a:t>godly discipline</a:t>
            </a:r>
            <a:r>
              <a:rPr lang="en-US" sz="4400" dirty="0"/>
              <a:t>, </a:t>
            </a:r>
            <a:r>
              <a:rPr lang="en-US" sz="4400" dirty="0">
                <a:solidFill>
                  <a:srgbClr val="FF0000"/>
                </a:solidFill>
              </a:rPr>
              <a:t>absolute dependence on God and the choice to honour God through obedience.</a:t>
            </a:r>
          </a:p>
        </p:txBody>
      </p:sp>
    </p:spTree>
    <p:extLst>
      <p:ext uri="{BB962C8B-B14F-4D97-AF65-F5344CB8AC3E}">
        <p14:creationId xmlns:p14="http://schemas.microsoft.com/office/powerpoint/2010/main" val="35234225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424542"/>
            <a:ext cx="9601200" cy="881743"/>
          </a:xfrm>
        </p:spPr>
        <p:txBody>
          <a:bodyPr/>
          <a:lstStyle/>
          <a:p>
            <a:pPr algn="ctr"/>
            <a:r>
              <a:rPr lang="en-US" b="1" dirty="0"/>
              <a:t>DEFINITIONS</a:t>
            </a:r>
          </a:p>
        </p:txBody>
      </p:sp>
      <p:sp>
        <p:nvSpPr>
          <p:cNvPr id="3" name="Content Placeholder 2"/>
          <p:cNvSpPr>
            <a:spLocks noGrp="1"/>
          </p:cNvSpPr>
          <p:nvPr>
            <p:ph idx="1"/>
          </p:nvPr>
        </p:nvSpPr>
        <p:spPr>
          <a:xfrm>
            <a:off x="1371600" y="1567542"/>
            <a:ext cx="10115006" cy="4807131"/>
          </a:xfrm>
        </p:spPr>
        <p:txBody>
          <a:bodyPr>
            <a:normAutofit/>
          </a:bodyPr>
          <a:lstStyle/>
          <a:p>
            <a:pPr>
              <a:buFont typeface="Wingdings" panose="05000000000000000000" pitchFamily="2" charset="2"/>
              <a:buChar char="ü"/>
            </a:pPr>
            <a:r>
              <a:rPr lang="en-US" sz="3200" dirty="0"/>
              <a:t>Discipline: The practice of training oneself or people to obey rules or a code of conduct. Also, when someone is punished for an offence. Controlled behaviour achieved through training, punishment or rebuke. Discipline can also be an academic course to study or pursue.</a:t>
            </a:r>
          </a:p>
          <a:p>
            <a:pPr>
              <a:buFont typeface="Wingdings" panose="05000000000000000000" pitchFamily="2" charset="2"/>
              <a:buChar char="ü"/>
            </a:pPr>
            <a:r>
              <a:rPr lang="en-US" sz="3200" dirty="0"/>
              <a:t>Dependence: To rely on someone or something.</a:t>
            </a:r>
          </a:p>
          <a:p>
            <a:pPr>
              <a:buFont typeface="Wingdings" panose="05000000000000000000" pitchFamily="2" charset="2"/>
              <a:buChar char="ü"/>
            </a:pPr>
            <a:r>
              <a:rPr lang="en-US" sz="3200" dirty="0"/>
              <a:t>Obedience: Compliance with an order or law. Submission to another’s authority. </a:t>
            </a:r>
          </a:p>
          <a:p>
            <a:endParaRPr lang="en-US" dirty="0"/>
          </a:p>
        </p:txBody>
      </p:sp>
    </p:spTree>
    <p:extLst>
      <p:ext uri="{BB962C8B-B14F-4D97-AF65-F5344CB8AC3E}">
        <p14:creationId xmlns:p14="http://schemas.microsoft.com/office/powerpoint/2010/main" val="37206793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119743"/>
            <a:ext cx="9601200" cy="742406"/>
          </a:xfrm>
        </p:spPr>
        <p:txBody>
          <a:bodyPr/>
          <a:lstStyle/>
          <a:p>
            <a:pPr algn="ctr"/>
            <a:r>
              <a:rPr lang="en-US" b="1" dirty="0"/>
              <a:t>JOSEPH</a:t>
            </a:r>
          </a:p>
        </p:txBody>
      </p:sp>
      <p:sp>
        <p:nvSpPr>
          <p:cNvPr id="3" name="Content Placeholder 2"/>
          <p:cNvSpPr>
            <a:spLocks noGrp="1"/>
          </p:cNvSpPr>
          <p:nvPr>
            <p:ph idx="1"/>
          </p:nvPr>
        </p:nvSpPr>
        <p:spPr>
          <a:xfrm>
            <a:off x="1371600" y="1053737"/>
            <a:ext cx="10515600" cy="5329645"/>
          </a:xfrm>
        </p:spPr>
        <p:txBody>
          <a:bodyPr>
            <a:normAutofit fontScale="92500" lnSpcReduction="10000"/>
          </a:bodyPr>
          <a:lstStyle/>
          <a:p>
            <a:pPr>
              <a:buFont typeface="Wingdings" panose="05000000000000000000" pitchFamily="2" charset="2"/>
              <a:buChar char="ü"/>
            </a:pPr>
            <a:r>
              <a:rPr lang="en-US" sz="3600" dirty="0"/>
              <a:t>He is introduced by Matthew as a righteous man (Matt 1:19).</a:t>
            </a:r>
          </a:p>
          <a:p>
            <a:pPr>
              <a:buFont typeface="Wingdings" panose="05000000000000000000" pitchFamily="2" charset="2"/>
              <a:buChar char="ü"/>
            </a:pPr>
            <a:r>
              <a:rPr lang="en-US" sz="3600" dirty="0"/>
              <a:t>He took time to be alone in order to reflect and think about the situation and what to do (Matt 1:20).</a:t>
            </a:r>
          </a:p>
          <a:p>
            <a:pPr>
              <a:buFont typeface="Wingdings" panose="05000000000000000000" pitchFamily="2" charset="2"/>
              <a:buChar char="ü"/>
            </a:pPr>
            <a:r>
              <a:rPr lang="en-US" sz="3600" dirty="0"/>
              <a:t>God met him in a dream through an angelic visitation and explained to him the mystery and miracle surrounding Mary’s pregnancy (Matt 1:20).</a:t>
            </a:r>
          </a:p>
          <a:p>
            <a:pPr>
              <a:buFont typeface="Wingdings" panose="05000000000000000000" pitchFamily="2" charset="2"/>
              <a:buChar char="ü"/>
            </a:pPr>
            <a:r>
              <a:rPr lang="en-US" sz="3600" dirty="0"/>
              <a:t>The angel then revealed the unborn child’s sex, name and mission (Matt 1:210) “</a:t>
            </a:r>
            <a:r>
              <a:rPr lang="en-US" sz="3600" dirty="0">
                <a:solidFill>
                  <a:srgbClr val="FF0000"/>
                </a:solidFill>
              </a:rPr>
              <a:t> She will give birth to a Son, and you are to give him the name Jesus, because he will save his people from their sins.”</a:t>
            </a:r>
          </a:p>
        </p:txBody>
      </p:sp>
    </p:spTree>
    <p:extLst>
      <p:ext uri="{BB962C8B-B14F-4D97-AF65-F5344CB8AC3E}">
        <p14:creationId xmlns:p14="http://schemas.microsoft.com/office/powerpoint/2010/main" val="31262805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8686" y="119743"/>
            <a:ext cx="9601200" cy="873034"/>
          </a:xfrm>
        </p:spPr>
        <p:txBody>
          <a:bodyPr/>
          <a:lstStyle/>
          <a:p>
            <a:pPr algn="ctr"/>
            <a:r>
              <a:rPr lang="en-US" b="1" dirty="0"/>
              <a:t>JOSEPH</a:t>
            </a:r>
          </a:p>
        </p:txBody>
      </p:sp>
      <p:sp>
        <p:nvSpPr>
          <p:cNvPr id="3" name="Content Placeholder 2"/>
          <p:cNvSpPr>
            <a:spLocks noGrp="1"/>
          </p:cNvSpPr>
          <p:nvPr>
            <p:ph idx="1"/>
          </p:nvPr>
        </p:nvSpPr>
        <p:spPr>
          <a:xfrm>
            <a:off x="1371600" y="923109"/>
            <a:ext cx="10358846" cy="5355771"/>
          </a:xfrm>
        </p:spPr>
        <p:txBody>
          <a:bodyPr>
            <a:normAutofit lnSpcReduction="10000"/>
          </a:bodyPr>
          <a:lstStyle/>
          <a:p>
            <a:pPr>
              <a:buFont typeface="Wingdings" panose="05000000000000000000" pitchFamily="2" charset="2"/>
              <a:buChar char="ü"/>
            </a:pPr>
            <a:r>
              <a:rPr lang="en-US" sz="4000" dirty="0"/>
              <a:t>When Joseph woke up, he did what the angel had commanded him in the dream and took Mary home as his wife (Matt 1:24).</a:t>
            </a:r>
          </a:p>
          <a:p>
            <a:pPr>
              <a:buFont typeface="Wingdings" panose="05000000000000000000" pitchFamily="2" charset="2"/>
              <a:buChar char="ü"/>
            </a:pPr>
            <a:r>
              <a:rPr lang="en-US" sz="4000" dirty="0"/>
              <a:t>He named the child Jesus, the name the angel commanded him to give to the child (Matt 1:25)</a:t>
            </a:r>
          </a:p>
          <a:p>
            <a:pPr>
              <a:buFont typeface="Wingdings" panose="05000000000000000000" pitchFamily="2" charset="2"/>
              <a:buChar char="ü"/>
            </a:pPr>
            <a:r>
              <a:rPr lang="en-US" sz="4000" dirty="0"/>
              <a:t>He did not consummate their marriage until the child was born (Matt 1:25). Until the promise was fulfilled.</a:t>
            </a:r>
          </a:p>
          <a:p>
            <a:endParaRPr lang="en-US" dirty="0"/>
          </a:p>
        </p:txBody>
      </p:sp>
    </p:spTree>
    <p:extLst>
      <p:ext uri="{BB962C8B-B14F-4D97-AF65-F5344CB8AC3E}">
        <p14:creationId xmlns:p14="http://schemas.microsoft.com/office/powerpoint/2010/main" val="21060772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250371"/>
            <a:ext cx="9601200" cy="846909"/>
          </a:xfrm>
        </p:spPr>
        <p:txBody>
          <a:bodyPr/>
          <a:lstStyle/>
          <a:p>
            <a:pPr algn="ctr"/>
            <a:r>
              <a:rPr lang="en-US" b="1" dirty="0"/>
              <a:t>MARY</a:t>
            </a:r>
          </a:p>
        </p:txBody>
      </p:sp>
      <p:sp>
        <p:nvSpPr>
          <p:cNvPr id="3" name="Content Placeholder 2"/>
          <p:cNvSpPr>
            <a:spLocks noGrp="1"/>
          </p:cNvSpPr>
          <p:nvPr>
            <p:ph idx="1"/>
          </p:nvPr>
        </p:nvSpPr>
        <p:spPr>
          <a:xfrm>
            <a:off x="1371600" y="1341120"/>
            <a:ext cx="10533018" cy="4770121"/>
          </a:xfrm>
        </p:spPr>
        <p:txBody>
          <a:bodyPr>
            <a:normAutofit/>
          </a:bodyPr>
          <a:lstStyle/>
          <a:p>
            <a:pPr>
              <a:buFont typeface="Wingdings" panose="05000000000000000000" pitchFamily="2" charset="2"/>
              <a:buChar char="ü"/>
            </a:pPr>
            <a:r>
              <a:rPr lang="en-US" sz="4000" dirty="0"/>
              <a:t>She was introduced as a virgin (Matt 1:23; Lk 1:27,34)</a:t>
            </a:r>
          </a:p>
          <a:p>
            <a:pPr>
              <a:buFont typeface="Wingdings" panose="05000000000000000000" pitchFamily="2" charset="2"/>
              <a:buChar char="ü"/>
            </a:pPr>
            <a:r>
              <a:rPr lang="en-US" sz="4000" dirty="0"/>
              <a:t>She was disciplined </a:t>
            </a:r>
          </a:p>
          <a:p>
            <a:pPr>
              <a:buFont typeface="Wingdings" panose="05000000000000000000" pitchFamily="2" charset="2"/>
              <a:buChar char="ü"/>
            </a:pPr>
            <a:r>
              <a:rPr lang="en-US" sz="4000" dirty="0"/>
              <a:t>She loved the Lord and she was not ashamed to declare it whenever she had the opportunity (Lk 1:38, 47).</a:t>
            </a:r>
          </a:p>
          <a:p>
            <a:endParaRPr lang="en-US" dirty="0"/>
          </a:p>
        </p:txBody>
      </p:sp>
    </p:spTree>
    <p:extLst>
      <p:ext uri="{BB962C8B-B14F-4D97-AF65-F5344CB8AC3E}">
        <p14:creationId xmlns:p14="http://schemas.microsoft.com/office/powerpoint/2010/main" val="9232575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241663"/>
            <a:ext cx="9601200" cy="820783"/>
          </a:xfrm>
        </p:spPr>
        <p:txBody>
          <a:bodyPr/>
          <a:lstStyle/>
          <a:p>
            <a:pPr algn="ctr"/>
            <a:r>
              <a:rPr lang="en-US" b="1" dirty="0"/>
              <a:t>MARY</a:t>
            </a:r>
          </a:p>
        </p:txBody>
      </p:sp>
      <p:sp>
        <p:nvSpPr>
          <p:cNvPr id="3" name="Content Placeholder 2"/>
          <p:cNvSpPr>
            <a:spLocks noGrp="1"/>
          </p:cNvSpPr>
          <p:nvPr>
            <p:ph idx="1"/>
          </p:nvPr>
        </p:nvSpPr>
        <p:spPr>
          <a:xfrm>
            <a:off x="1371600" y="1280160"/>
            <a:ext cx="9601200" cy="4587240"/>
          </a:xfrm>
        </p:spPr>
        <p:txBody>
          <a:bodyPr/>
          <a:lstStyle/>
          <a:p>
            <a:pPr>
              <a:buFont typeface="Wingdings" panose="05000000000000000000" pitchFamily="2" charset="2"/>
              <a:buChar char="ü"/>
            </a:pPr>
            <a:r>
              <a:rPr lang="en-US" sz="4000" dirty="0"/>
              <a:t>She was favoured by God (Lk 1:28,30)</a:t>
            </a:r>
          </a:p>
          <a:p>
            <a:pPr>
              <a:buFont typeface="Wingdings" panose="05000000000000000000" pitchFamily="2" charset="2"/>
              <a:buChar char="ü"/>
            </a:pPr>
            <a:r>
              <a:rPr lang="en-US" sz="4000" dirty="0"/>
              <a:t>She had surrendered her whole life and will to God (Lk 1:38)</a:t>
            </a:r>
          </a:p>
          <a:p>
            <a:pPr>
              <a:buFont typeface="Wingdings" panose="05000000000000000000" pitchFamily="2" charset="2"/>
              <a:buChar char="ü"/>
            </a:pPr>
            <a:r>
              <a:rPr lang="en-US" sz="4000" dirty="0"/>
              <a:t>She feared the Lord and was ever ready to obey Him (Lk 1:38, 50)</a:t>
            </a:r>
          </a:p>
          <a:p>
            <a:endParaRPr lang="en-US" dirty="0"/>
          </a:p>
        </p:txBody>
      </p:sp>
    </p:spTree>
    <p:extLst>
      <p:ext uri="{BB962C8B-B14F-4D97-AF65-F5344CB8AC3E}">
        <p14:creationId xmlns:p14="http://schemas.microsoft.com/office/powerpoint/2010/main" val="32279164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76201"/>
            <a:ext cx="9601200" cy="925286"/>
          </a:xfrm>
        </p:spPr>
        <p:txBody>
          <a:bodyPr/>
          <a:lstStyle/>
          <a:p>
            <a:pPr algn="ctr"/>
            <a:r>
              <a:rPr lang="en-US" b="1" dirty="0"/>
              <a:t>CONCLUSION</a:t>
            </a:r>
          </a:p>
        </p:txBody>
      </p:sp>
      <p:sp>
        <p:nvSpPr>
          <p:cNvPr id="3" name="Content Placeholder 2"/>
          <p:cNvSpPr>
            <a:spLocks noGrp="1"/>
          </p:cNvSpPr>
          <p:nvPr>
            <p:ph idx="1"/>
          </p:nvPr>
        </p:nvSpPr>
        <p:spPr>
          <a:xfrm>
            <a:off x="1371600" y="870857"/>
            <a:ext cx="10367554" cy="5477691"/>
          </a:xfrm>
        </p:spPr>
        <p:txBody>
          <a:bodyPr>
            <a:noAutofit/>
          </a:bodyPr>
          <a:lstStyle/>
          <a:p>
            <a:pPr marL="0" indent="0">
              <a:buNone/>
            </a:pPr>
            <a:r>
              <a:rPr lang="en-US" sz="3200" dirty="0"/>
              <a:t>As a result of the discipline, absolute dependence, obedience and special grace of God, Joseph and Mary were honoured by God to be used to fulfil His promise to mankind. Through them the promised Messiah, King and the Saviour of the world, Jesus Christ was born. Something that was to change the course of human history – when the eternal One entered into time so that whosoever believe in Him will be saved. </a:t>
            </a:r>
          </a:p>
          <a:p>
            <a:pPr marL="0" indent="0">
              <a:buNone/>
            </a:pPr>
            <a:endParaRPr lang="en-US" sz="3200" dirty="0"/>
          </a:p>
          <a:p>
            <a:pPr marL="0" indent="0">
              <a:buNone/>
            </a:pPr>
            <a:r>
              <a:rPr lang="en-US" sz="3200" dirty="0"/>
              <a:t>In the light of the above, Mary could sing the song in Luke 1:46-55 with a better meaning.</a:t>
            </a:r>
          </a:p>
        </p:txBody>
      </p:sp>
    </p:spTree>
    <p:extLst>
      <p:ext uri="{BB962C8B-B14F-4D97-AF65-F5344CB8AC3E}">
        <p14:creationId xmlns:p14="http://schemas.microsoft.com/office/powerpoint/2010/main" val="21862278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163286"/>
            <a:ext cx="9601200" cy="846909"/>
          </a:xfrm>
        </p:spPr>
        <p:txBody>
          <a:bodyPr/>
          <a:lstStyle/>
          <a:p>
            <a:pPr algn="ctr"/>
            <a:r>
              <a:rPr lang="en-US" b="1" dirty="0"/>
              <a:t>CONCLUSION</a:t>
            </a:r>
          </a:p>
        </p:txBody>
      </p:sp>
      <p:sp>
        <p:nvSpPr>
          <p:cNvPr id="3" name="Content Placeholder 2"/>
          <p:cNvSpPr>
            <a:spLocks noGrp="1"/>
          </p:cNvSpPr>
          <p:nvPr>
            <p:ph idx="1"/>
          </p:nvPr>
        </p:nvSpPr>
        <p:spPr>
          <a:xfrm>
            <a:off x="1371600" y="1010195"/>
            <a:ext cx="10184674" cy="5294811"/>
          </a:xfrm>
        </p:spPr>
        <p:txBody>
          <a:bodyPr>
            <a:normAutofit/>
          </a:bodyPr>
          <a:lstStyle/>
          <a:p>
            <a:pPr marL="0" indent="0">
              <a:buNone/>
            </a:pPr>
            <a:r>
              <a:rPr lang="en-US" sz="4000" i="1" dirty="0">
                <a:solidFill>
                  <a:srgbClr val="FF0000"/>
                </a:solidFill>
              </a:rPr>
              <a:t>If God is looking for someone He can use to do something special for His people and in this world, will He find in you that person?</a:t>
            </a:r>
          </a:p>
          <a:p>
            <a:pPr marL="0" indent="0">
              <a:buNone/>
            </a:pPr>
            <a:r>
              <a:rPr lang="en-US" sz="4000" dirty="0"/>
              <a:t>As you go from here, may the life and attitude of Joseph and Mary challenge you to be careful how you live and to be more determined to do more for God as we endeavour to possess the nations.</a:t>
            </a:r>
          </a:p>
          <a:p>
            <a:endParaRPr lang="en-US" dirty="0"/>
          </a:p>
        </p:txBody>
      </p:sp>
    </p:spTree>
    <p:extLst>
      <p:ext uri="{BB962C8B-B14F-4D97-AF65-F5344CB8AC3E}">
        <p14:creationId xmlns:p14="http://schemas.microsoft.com/office/powerpoint/2010/main" val="34304349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37360" y="2346960"/>
            <a:ext cx="9601200" cy="3581400"/>
          </a:xfrm>
        </p:spPr>
        <p:txBody>
          <a:bodyPr>
            <a:normAutofit/>
          </a:bodyPr>
          <a:lstStyle/>
          <a:p>
            <a:pPr marL="0" indent="0" algn="ctr">
              <a:buNone/>
            </a:pPr>
            <a:r>
              <a:rPr lang="en-US" sz="8800" b="1" dirty="0"/>
              <a:t>GOD BLESS YOU!</a:t>
            </a:r>
          </a:p>
        </p:txBody>
      </p:sp>
    </p:spTree>
    <p:extLst>
      <p:ext uri="{BB962C8B-B14F-4D97-AF65-F5344CB8AC3E}">
        <p14:creationId xmlns:p14="http://schemas.microsoft.com/office/powerpoint/2010/main" val="2321494159"/>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A2E40"/>
      </a:dk2>
      <a:lt2>
        <a:srgbClr val="EBE7DD"/>
      </a:lt2>
      <a:accent1>
        <a:srgbClr val="69A1AB"/>
      </a:accent1>
      <a:accent2>
        <a:srgbClr val="F2C418"/>
      </a:accent2>
      <a:accent3>
        <a:srgbClr val="87492C"/>
      </a:accent3>
      <a:accent4>
        <a:srgbClr val="4A845E"/>
      </a:accent4>
      <a:accent5>
        <a:srgbClr val="DC9528"/>
      </a:accent5>
      <a:accent6>
        <a:srgbClr val="9A5D78"/>
      </a:accent6>
      <a:hlink>
        <a:srgbClr val="66C8E3"/>
      </a:hlink>
      <a:folHlink>
        <a:srgbClr val="B162A1"/>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17F9D331-421E-442F-B033-AF5B21A44854}"/>
    </a:ext>
  </a:extLst>
</a:theme>
</file>

<file path=docProps/app.xml><?xml version="1.0" encoding="utf-8"?>
<Properties xmlns="http://schemas.openxmlformats.org/officeDocument/2006/extended-properties" xmlns:vt="http://schemas.openxmlformats.org/officeDocument/2006/docPropsVTypes">
  <Template>TM10001105[[fn=Crop]]</Template>
  <TotalTime>57</TotalTime>
  <Words>1221</Words>
  <Application>Microsoft Office PowerPoint</Application>
  <PresentationFormat>Widescreen</PresentationFormat>
  <Paragraphs>69</Paragraphs>
  <Slides>19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Franklin Gothic Book</vt:lpstr>
      <vt:lpstr>Wingdings</vt:lpstr>
      <vt:lpstr>Crop</vt:lpstr>
      <vt:lpstr>THE CHURCH OF PENTECOST-UKRAINE</vt:lpstr>
      <vt:lpstr>THE PROMISE FULFILLED</vt:lpstr>
      <vt:lpstr>INTRODUCTION</vt:lpstr>
      <vt:lpstr>DEFINITIONS</vt:lpstr>
      <vt:lpstr>THE FALL OF MAN AND THE FIRST PROMISE OF GOD’S REDEMPTION PLAN FOR MANKIND</vt:lpstr>
      <vt:lpstr>THE FALL OF MAN AND THE FIRST PROMISE OF GOD’S REDEMPTION PLAN FOR MANKIND</vt:lpstr>
      <vt:lpstr>THE DIVINE BIRTH OF JESUS CHRIST</vt:lpstr>
      <vt:lpstr>THE PROMISE FULFILLED</vt:lpstr>
      <vt:lpstr>IN FULFILLING THE PROMISE, GOD HAD TO DO IT THROUGH:</vt:lpstr>
      <vt:lpstr>THE PROMISE FULFILLED (the role of joseph and mary</vt:lpstr>
      <vt:lpstr>INTRODUCTION</vt:lpstr>
      <vt:lpstr>DEFINITIONS</vt:lpstr>
      <vt:lpstr>JOSEPH</vt:lpstr>
      <vt:lpstr>JOSEPH</vt:lpstr>
      <vt:lpstr>MARY</vt:lpstr>
      <vt:lpstr>MARY</vt:lpstr>
      <vt:lpstr>CONCLUSION</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CHURCH OF PENTECOST-UKRAINE</dc:title>
  <dc:creator>Amanda Appiah</dc:creator>
  <cp:lastModifiedBy>philemon anaman</cp:lastModifiedBy>
  <cp:revision>16</cp:revision>
  <dcterms:created xsi:type="dcterms:W3CDTF">2019-12-14T15:01:35Z</dcterms:created>
  <dcterms:modified xsi:type="dcterms:W3CDTF">2019-12-21T09:26:05Z</dcterms:modified>
</cp:coreProperties>
</file>